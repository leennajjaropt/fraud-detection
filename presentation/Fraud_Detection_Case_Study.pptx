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13"/>
    <p:sldId id="267" r:id="rId14"/>
    <p:sldId id="268" r:id="rId15"/>
    <p:sldId id="269" r:id="rId16"/>
    <p:sldId id="274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1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Identified</c:v>
                </c:pt>
              </c:strCache>
            </c:strRef>
          </c:tx>
          <c:spPr>
            <a:solidFill>
              <a:srgbClr val="92D05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By transaction count</c:v>
                </c:pt>
                <c:pt idx="1">
                  <c:v>By fraud value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83.8</c:v>
                </c:pt>
                <c:pt idx="1">
                  <c:v>96.79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3D-4894-A2FC-DAB391ADA6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Missed</c:v>
                </c:pt>
              </c:strCache>
            </c:strRef>
          </c:tx>
          <c:spPr>
            <a:solidFill>
              <a:srgbClr val="B3453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By transaction count</c:v>
                </c:pt>
                <c:pt idx="1">
                  <c:v>By fraud value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16.2</c:v>
                </c:pt>
                <c:pt idx="1">
                  <c:v>3.21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3D-4894-A2FC-DAB391ADA68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transaction value</c:v>
                </c:pt>
              </c:strCache>
            </c:strRef>
          </c:tx>
          <c:spPr>
            <a:solidFill>
              <a:srgbClr val="92D050"/>
            </a:solidFill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2A4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Fraud detected</c:v>
                </c:pt>
                <c:pt idx="1">
                  <c:v>Fraud 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590</c:v>
                </c:pt>
                <c:pt idx="1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42-4951-8EA1-35D82BC528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1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50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in one line: the model works, but the real deliverable is a threshold policy the fraud team can operate.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96% of value, not 84% of cases. If they only remember one number, this is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earns the right to talk about thresholds and money later. Do not skip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tooling split is a deliberate architectural choice, not a preference. Say so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technical reviewer probes anywhere, it is here. Volunteer it before being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 consultant from an analyst. Own the assumptions rather than declining to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FRAUD DETECTION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57860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86BC25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CASE STUDY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2E6E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Turning fraud detection into a review-capacity decision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2926080" cy="0"/>
          </a:xfrm>
          <a:prstGeom prst="line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Prepared for Deloitte &amp; Touche Middle East  ·  August 2026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Leen Al-Najjar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Arial"/>
              </a:rPr>
              <a:t>The model identifies 96.8% of fraud value and converts detection into a capacity decision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26262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81051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6BC25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96.8%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>
                <a:solidFill>
                  <a:srgbClr val="E2E6EA"/>
                </a:solidFill>
                <a:latin typeface="Arial"/>
              </a:rPr>
              <a:t>of fraud VALUE identified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91840" y="181051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83.8%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9184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>
                <a:solidFill>
                  <a:srgbClr val="B4B4B4"/>
                </a:solidFill>
                <a:latin typeface="Arial"/>
              </a:rPr>
              <a:t>of fraud CASES identified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0" y="181051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85216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of alerts are genuine fraud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0" y="181051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~881/day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alerts ≈ 9 FTE review capacity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127248"/>
            <a:ext cx="310896" cy="310896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66928" y="312724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309981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 u="none">
                <a:solidFill>
                  <a:srgbClr val="FFFFFF"/>
                </a:solidFill>
                <a:latin typeface="Arial"/>
              </a:rPr>
              <a:t>Value matters more than count.</a:t>
            </a:r>
            <a:r>
              <a:rPr sz="1250" b="0" u="none">
                <a:solidFill>
                  <a:srgbClr val="FFFFFF"/>
                </a:solidFill>
                <a:latin typeface="Arial"/>
              </a:rPr>
              <a:t> Fraud the model misses averages ~$101; fraud it identifies averages ~$590. Measured in money rather than transactions, coverage rises from 83.8% to 96.8%.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310896" cy="310896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66928" y="3886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3858768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 u="none" dirty="0">
                <a:solidFill>
                  <a:srgbClr val="FFFFFF"/>
                </a:solidFill>
                <a:latin typeface="Arial"/>
              </a:rPr>
              <a:t>The technical threshold is not yet the business threshold.</a:t>
            </a:r>
            <a:r>
              <a:rPr sz="1250" b="0" u="none" dirty="0">
                <a:solidFill>
                  <a:srgbClr val="FFFFFF"/>
                </a:solidFill>
                <a:latin typeface="Arial"/>
              </a:rPr>
              <a:t> At ~$2.50 per manual review, one missed $101 fraud is worth ~40 reviews. The 0.5631 cut-off </a:t>
            </a:r>
            <a:r>
              <a:rPr sz="1250" b="0" u="none" dirty="0" err="1">
                <a:solidFill>
                  <a:srgbClr val="FFFFFF"/>
                </a:solidFill>
                <a:latin typeface="Arial"/>
              </a:rPr>
              <a:t>optimises</a:t>
            </a:r>
            <a:r>
              <a:rPr sz="1250" b="0" u="none" dirty="0">
                <a:solidFill>
                  <a:srgbClr val="FFFFFF"/>
                </a:solidFill>
                <a:latin typeface="Arial"/>
              </a:rPr>
              <a:t> F1, not economics  which points toward testing a lower cut-off, to be confirmed with client cost and capacity inputs.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310896" cy="310896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66928" y="464515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61772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Deploy as prioritisation, not auto-decision.  </a:t>
            </a:r>
            <a:r>
              <a:rPr lang="en-US" sz="12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8.7% of alerts are false positives and closely resemble genuine fraud. Scores should rank a review queue; humans confirm.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404104"/>
            <a:ext cx="310896" cy="310896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66928" y="54041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537667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Low-value fraud needs a different control.  </a:t>
            </a:r>
            <a:r>
              <a:rPr lang="en-US" sz="12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Recall falls to ~43-45% under $50. This is a stable, known gap that rules-based limits  not this model  should close.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The question is not “Can we detect fraud” it is how to spend finite review capacity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HOW THE BRIEF READS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"Build a model that classifies transactions as fraudulent or benign."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Optimises a metric. Produces a score. Stops short of a decision anyone can act 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537960" y="182880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HOW WE FRAMED 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37960" y="2121408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"Given an investigation team of fixed size, which transactions should reach a human first?"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761488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Produces a threshold policy, an alert volume, and a staffing implication.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673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WHY THE REFRAME CHANGES THE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4672" y="4343400"/>
            <a:ext cx="182880" cy="1828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06424" y="4328645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Errors are not symmetric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817433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false positive costs minutes of analyst time. A missed fraud costs the full transaction value plus chargeback handling.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411480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553712" y="4343400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855464" y="4328645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So accuracy is the wrong lens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49140" y="4817433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At 1.21% prevalence, predicting "never fraud" scores 98.8%. Detection must be judged on ranking quality and on money, not on hit rate.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411480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302752" y="4343400"/>
            <a:ext cx="182880" cy="1828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77656" y="4328645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And the deliverable is a threshold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1040" y="4817433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model is an input. The recommendation is where to set the cut-off, given what review capacity costs and what fraud costs.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Two structural properties of the dataset drove every methodology decision that followed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03120" cy="1207008"/>
          </a:xfrm>
          <a:prstGeom prst="roundRect">
            <a:avLst>
              <a:gd name="adj" fmla="val 4545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594,643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1645920"/>
            <a:ext cx="2103120" cy="1207008"/>
          </a:xfrm>
          <a:prstGeom prst="roundRect">
            <a:avLst>
              <a:gd name="adj" fmla="val 4545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788920" y="1783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7,200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788920" y="235000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Confirmed fraud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1645920"/>
            <a:ext cx="2103120" cy="1207008"/>
          </a:xfrm>
          <a:prstGeom prst="roundRect">
            <a:avLst>
              <a:gd name="adj" fmla="val 4545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1.21%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029200" y="235000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prevalence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9480" y="1645920"/>
            <a:ext cx="2103120" cy="1207008"/>
          </a:xfrm>
          <a:prstGeom prst="roundRect">
            <a:avLst>
              <a:gd name="adj" fmla="val 4545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269480" y="1783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82:1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269480" y="235000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0" y="1645920"/>
            <a:ext cx="2103120" cy="1207008"/>
          </a:xfrm>
          <a:prstGeom prst="roundRect">
            <a:avLst>
              <a:gd name="adj" fmla="val 4545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509760" y="1783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~7.5 days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509760" y="235000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Observation window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338328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6BC25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600200" y="3328416"/>
            <a:ext cx="96926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600200" y="3675888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model predicting "never fraud" already scores ~98.8% accuracy. Accuracy cannot distinguish a working model from a useless one here  so PR-AUC, precision and recall carry the evaluation instead.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44568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22960" y="480060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3453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600200" y="4745736"/>
            <a:ext cx="96926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Temporal drift with recurring entities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600200" y="5093208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prevalence falls from 1.52% to ~1.08% across the window while the same customers and merchants reappear throughout. A random split would let the model see the future  so validation is chronological.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Statistical validation and operational deployment were deliberately kept in separate tools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91640" cy="1600200"/>
          </a:xfrm>
          <a:prstGeom prst="roundRect">
            <a:avLst>
              <a:gd name="adj" fmla="val 3429"/>
            </a:avLst>
          </a:prstGeom>
          <a:solidFill>
            <a:srgbClr val="F6F7F8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Data audit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Leakage checks,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constant-column removal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04288" y="2487168"/>
            <a:ext cx="118872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432304" y="1783080"/>
            <a:ext cx="1691640" cy="1600200"/>
          </a:xfrm>
          <a:prstGeom prst="roundRect">
            <a:avLst>
              <a:gd name="adj" fmla="val 3429"/>
            </a:avLst>
          </a:prstGeom>
          <a:solidFill>
            <a:srgbClr val="F6F7F8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569464" y="1920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9464" y="224028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69464" y="27889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Customer-relative,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strictly historical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87952" y="2487168"/>
            <a:ext cx="118872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15968" y="1783080"/>
            <a:ext cx="1691640" cy="1600200"/>
          </a:xfrm>
          <a:prstGeom prst="roundRect">
            <a:avLst>
              <a:gd name="adj" fmla="val 3429"/>
            </a:avLst>
          </a:prstGeom>
          <a:solidFill>
            <a:srgbClr val="F6F7F8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53128" y="1920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53128" y="224028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53128" y="27889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Train past,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test future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2487168"/>
            <a:ext cx="118872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199632" y="1783080"/>
            <a:ext cx="1691640" cy="1600200"/>
          </a:xfrm>
          <a:prstGeom prst="roundRect">
            <a:avLst>
              <a:gd name="adj" fmla="val 3429"/>
            </a:avLst>
          </a:prstGeom>
          <a:solidFill>
            <a:srgbClr val="F6F7F8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36792" y="1920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6792" y="224028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36792" y="27889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Evidence-gated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55280" y="2487168"/>
            <a:ext cx="118872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083296" y="1783080"/>
            <a:ext cx="1691640" cy="1600200"/>
          </a:xfrm>
          <a:prstGeom prst="roundRect">
            <a:avLst>
              <a:gd name="adj" fmla="val 3429"/>
            </a:avLst>
          </a:prstGeom>
          <a:solidFill>
            <a:srgbClr val="F6F7F8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220456" y="1920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0456" y="224028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0456" y="27889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Cost and capacity,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not F1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838944" y="2487168"/>
            <a:ext cx="118872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966960" y="1783080"/>
            <a:ext cx="1691640" cy="1600200"/>
          </a:xfrm>
          <a:prstGeom prst="roundRect">
            <a:avLst>
              <a:gd name="adj" fmla="val 3429"/>
            </a:avLst>
          </a:prstGeom>
          <a:solidFill>
            <a:srgbClr val="11111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104120" y="1920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04120" y="224028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104120" y="27889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Review queue for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fraud team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70332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22960" y="3913632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Python  where the evidence is built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" y="4279392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Leakage-safe feature construction, chronological splits, model comparison, and interpretation.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Reproducible, diffable, and reviewable  the statistical claims live here.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370332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537960" y="3913632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Operational layer  where the decision is applied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37960" y="4279392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Built on scored model output, not raw data  the operating layer converts model scores into a prioritized review queue. The business threshold should be set using review capacity, cost, intervention effectiveness and risk appetite rather than F1 alone.</a:t>
            </a:r>
          </a:p>
        </p:txBody>
      </p:sp>
      <p:sp>
        <p:nvSpPr>
          <p:cNvPr id="39" name="Text 37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Three findings from exploration shaped the modelling strategy directly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947672"/>
            <a:ext cx="201168" cy="20116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07008" y="1874520"/>
            <a:ext cx="56692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Amount separates risk sharply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2240280"/>
            <a:ext cx="5669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rate rises from ~0.1% below $25 to over 95% above $500. Amount alone reaches 0.70 PR-AUC.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78040" y="1892808"/>
            <a:ext cx="4206240" cy="896112"/>
          </a:xfrm>
          <a:prstGeom prst="roundRect">
            <a:avLst>
              <a:gd name="adj" fmla="val 5102"/>
            </a:avLst>
          </a:prstGeom>
          <a:solidFill>
            <a:srgbClr val="F6F7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06640" y="198424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06640" y="2221992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Retained raw amount for cost analysis; added a log transform for the model.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41248" y="3374136"/>
            <a:ext cx="201168" cy="20116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07008" y="3300984"/>
            <a:ext cx="56692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Category carries structural signal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07008" y="3666744"/>
            <a:ext cx="5669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two highest-volume categories (~89% of transactions) show ~0% observed fraud. Risk concentrates in a handful of discretionary categories.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78040" y="3319272"/>
            <a:ext cx="4206240" cy="896112"/>
          </a:xfrm>
          <a:prstGeom prst="roundRect">
            <a:avLst>
              <a:gd name="adj" fmla="val 5102"/>
            </a:avLst>
          </a:prstGeom>
          <a:solidFill>
            <a:srgbClr val="F6F7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406640" y="341071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06640" y="364845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One-hot encoded; later confirmed as the strongest signal the model uses.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44568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41248" y="4800600"/>
            <a:ext cx="201168" cy="20116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207008" y="4727448"/>
            <a:ext cx="56692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Customer-relative behaviour adds lift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5093208"/>
            <a:ext cx="5669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Fraudulent transactions run ~6.7x the customer's own typical spend  a far stronger signal than absolute amount alone.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78040" y="4745736"/>
            <a:ext cx="4206240" cy="896112"/>
          </a:xfrm>
          <a:prstGeom prst="roundRect">
            <a:avLst>
              <a:gd name="adj" fmla="val 5102"/>
            </a:avLst>
          </a:prstGeom>
          <a:solidFill>
            <a:srgbClr val="F6F7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06640" y="483717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5074920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Motivated leakage-safe behavioural features built from strictly prior history.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rate and category mix both drift across the window  reinforcing a chronological validation design.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Validation replicates deployment: train on the past, test on a genuine future period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1207008"/>
          </a:xfrm>
          <a:prstGeom prst="roundRect">
            <a:avLst>
              <a:gd name="adj" fmla="val 3788"/>
            </a:avLst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81051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4663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6E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steps 0–119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374,914 txns   ·   1.28% fraud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60720" y="1691640"/>
            <a:ext cx="2194560" cy="1207008"/>
          </a:xfrm>
          <a:prstGeom prst="roundRect">
            <a:avLst>
              <a:gd name="adj" fmla="val 3788"/>
            </a:avLst>
          </a:prstGeom>
          <a:solidFill>
            <a:srgbClr val="86BC2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0" y="1810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08483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6E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steps 120–143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0" y="2395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86,498 txns   ·   1.11% fraud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291840" cy="1207008"/>
          </a:xfrm>
          <a:prstGeom prst="roundRect">
            <a:avLst>
              <a:gd name="adj" fmla="val 3788"/>
            </a:avLst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21040" y="1810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084832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6E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steps 144–179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0" y="23957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133,231 txns   ·   1.08% fraud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5349240" cy="2395728"/>
          </a:xfrm>
          <a:prstGeom prst="roundRect">
            <a:avLst>
              <a:gd name="adj" fmla="val 2290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information rule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3950208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transaction at time t may use: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261104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ALLOWED  </a:t>
            </a: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history strictly before t (step &lt; t)</a:t>
            </a:r>
          </a:p>
        </p:txBody>
      </p:sp>
      <p:sp>
        <p:nvSpPr>
          <p:cNvPr id="21" name="Text 19"/>
          <p:cNvSpPr/>
          <p:nvPr/>
        </p:nvSpPr>
        <p:spPr>
          <a:xfrm>
            <a:off x="822960" y="4608576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3453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BLOCKED  </a:t>
            </a: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anything from step ≥ t, including the transaction's own outcome</a:t>
            </a:r>
          </a:p>
        </p:txBody>
      </p:sp>
      <p:sp>
        <p:nvSpPr>
          <p:cNvPr id="22" name="Text 20"/>
          <p:cNvSpPr/>
          <p:nvPr/>
        </p:nvSpPr>
        <p:spPr>
          <a:xfrm>
            <a:off x="822960" y="52303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Enforced in code, every historical aggregate is built from shifted windows.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401568"/>
            <a:ext cx="5349240" cy="2395728"/>
          </a:xfrm>
          <a:prstGeom prst="roundRect">
            <a:avLst>
              <a:gd name="adj" fmla="val 2290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37960" y="361188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Same-step protection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37960" y="3950208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7.31% of transactions share a customer and an hourly step, with no reliable ordering inside the hour.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4553712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These transactions are excluded from each other's prior-history features  verified by confirming that every transaction sharing a step carries identical historical feature values.</a:t>
            </a:r>
          </a:p>
        </p:txBody>
      </p:sp>
      <p:sp>
        <p:nvSpPr>
          <p:cNvPr id="27" name="Text 25"/>
          <p:cNvSpPr/>
          <p:nvPr/>
        </p:nvSpPr>
        <p:spPr>
          <a:xfrm>
            <a:off x="6537960" y="539496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This is the leakage path most likely to inflate results unnoticed.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 dirty="0">
                <a:solidFill>
                  <a:srgbClr val="404040"/>
                </a:solidFill>
                <a:latin typeface="Arial"/>
              </a:rPr>
              <a:t>Alternatives evaluated  class weighting, SMOTE consideration, merchant-history features and 12 tuning configurations  are set out in the appendix.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RESULT · UNSEEN FUTURE-PERIOD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Measured in money rather than transactions, coverage rises from 83.8% to 96.8%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93280078"/>
              </p:ext>
            </p:extLst>
          </p:nvPr>
        </p:nvGraphicFramePr>
        <p:xfrm>
          <a:off x="411480" y="1664208"/>
          <a:ext cx="6263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1664208"/>
            <a:ext cx="4800600" cy="2286000"/>
          </a:xfrm>
          <a:prstGeom prst="roundRect">
            <a:avLst>
              <a:gd name="adj" fmla="val 2400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086600" y="182880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Why the two numbers differ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86600" y="2176272"/>
            <a:ext cx="42976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00">
                <a:solidFill>
                  <a:srgbClr val="5A6472"/>
                </a:solidFill>
                <a:latin typeface="Arial"/>
              </a:rPr>
              <a:t>The model is strongest on higher-value fraud. Fraud it identifies averages ~$590; fraud it misses averages ~$101.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86600" y="2816352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86BC25"/>
                </a:solidFill>
                <a:latin typeface="Arial"/>
              </a:rPr>
              <a:t>$712k  fraud value identified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86600" y="3145536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53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$24k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  fraud value missed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86600" y="349300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Across the 36-hour test window.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187952"/>
            <a:ext cx="176479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48640" y="4297680"/>
            <a:ext cx="176479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0.948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8640" y="486460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04872" y="4187952"/>
            <a:ext cx="176479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2404872" y="4297680"/>
            <a:ext cx="176479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04872" y="486460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61104" y="4187952"/>
            <a:ext cx="176479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4261104" y="4297680"/>
            <a:ext cx="176479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83.8%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261104" y="486460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17336" y="4187952"/>
            <a:ext cx="176479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117336" y="4297680"/>
            <a:ext cx="176479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87.4%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117336" y="486460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973568" y="4187952"/>
            <a:ext cx="176479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973568" y="4297680"/>
            <a:ext cx="176479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1,321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973568" y="486460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Alerts raised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829800" y="4187952"/>
            <a:ext cx="176479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9829800" y="4297680"/>
            <a:ext cx="176479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829800" y="486460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8640" y="5413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PR-AUC measures how well the model ranks genuine fraud above false alarms (1.0 = perfect; a no-skill model scores ~0.01 here). Accuracy was 99.74% and is not reported as a headline  at 1.21% prevalence it is uninformative.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THRESHOLD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2500" b="1" dirty="0">
                <a:solidFill>
                  <a:srgbClr val="111111"/>
                </a:solidFill>
                <a:latin typeface="Arial"/>
              </a:rPr>
              <a:t>The cut-off is an economic decision under the illustrative economics, test lower than 0.5631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792224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BREAK-EVEN LOGIC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Arial"/>
              </a:rPr>
              <a:t>Illustrative break-even logic: one missed fraud (~$101 average) equals roughly 40 manual reviews (~$2.50 each). Under these assumptions, the economics support testing a lower threshold because additional review is cheap relative to the fraud value at risk.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035808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OPERATING POINT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516658"/>
              </p:ext>
            </p:extLst>
          </p:nvPr>
        </p:nvGraphicFramePr>
        <p:xfrm>
          <a:off x="548640" y="3328416"/>
          <a:ext cx="5349240" cy="19202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0.5631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per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effort @ 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~73 hrs/day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review headcount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FTE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review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value missed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dirty="0"/>
                        <a:t>~$15.7k/day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63640" y="3035808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SENSITIVITY TO REVIEW CAPACITY</a:t>
            </a:r>
            <a:endParaRPr lang="en-US" sz="10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328416"/>
          <a:ext cx="5349240" cy="1243584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hrs/day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263640" y="4828032"/>
            <a:ext cx="5349240" cy="969264"/>
          </a:xfrm>
          <a:prstGeom prst="roundRect">
            <a:avLst>
              <a:gd name="adj" fmla="val 4717"/>
            </a:avLst>
          </a:prstGeom>
          <a:solidFill>
            <a:srgbClr val="F6F7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492240" y="4974336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00" b="1">
                <a:solidFill>
                  <a:srgbClr val="111111"/>
                </a:solidFill>
                <a:latin typeface="Arial"/>
              </a:rPr>
              <a:t>Recommendation: test operating points below 0.5631 first. Under the illustrative ~$2.50 review cost, the economics favor buying additional recall; confirm the final cut-off with the client's real capacity, intervention effectiveness and loss economics.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59618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 i="1">
                <a:solidFill>
                  <a:srgbClr val="5A6472"/>
                </a:solidFill>
                <a:latin typeface="Arial"/>
              </a:rPr>
              <a:t>Illustrative assumptions to confirm with the client: loaded analyst cost ~$30/hour, 5 minutes per review, chargeback handling and intervention success excluded. Figures scale with these inputs.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Rounded Rectangle 20"/>
          <p:cNvSpPr/>
          <p:nvPr/>
        </p:nvSpPr>
        <p:spPr>
          <a:xfrm>
            <a:off x="9464040" y="438912"/>
            <a:ext cx="1828800" cy="320040"/>
          </a:xfrm>
          <a:prstGeom prst="round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6BC25"/>
                </a:solidFill>
                <a:latin typeface="Arial"/>
              </a:rPr>
              <a:t>Illustrative scenario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WHERE THE MODEL IS WEAK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escapes detection is small-ticket fraud that closely resembles normal behaviour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209537311"/>
              </p:ext>
            </p:extLst>
          </p:nvPr>
        </p:nvGraphicFramePr>
        <p:xfrm>
          <a:off x="502920" y="1737360"/>
          <a:ext cx="5577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373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6F7F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629400" y="192024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pattern in what is missed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29400" y="228600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Missed fraud deviates far less from the customer's own spending history  it does not look anomalous.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Recall falls to ~43–45% below $50, and this gap is stable rather than noisy.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Category is the strongest signal the model uses (cardinality-fair interpretation; built-in importance overstated merchant).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22960" y="4279392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WHY THIS IS A SCOPING DECISION, NOT A DEFECT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572000"/>
            <a:ext cx="10515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00">
                <a:solidFill>
                  <a:srgbClr val="E2E6EA"/>
                </a:solidFill>
                <a:latin typeface="Arial"/>
              </a:rPr>
              <a:t>The fraud this model misses is the fraud that costs least to miss — ~$24k of the ~$735k at risk in the test window. Closing the remaining gap with this model alone would likely require accepting materially more false positives across the whole population. A velocity or low-value rules layer may address it more efficiently, and the two controls should be scoped separately.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5961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Interpretation describes model behaviour, not causation. No claim is made that category causes fraud.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5F5F5F"/>
                </a:solidFill>
                <a:latin typeface="Arial"/>
              </a:rPr>
              <a:t>OPERATIONAL REVIEW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E1E1E"/>
                </a:solidFill>
                <a:latin typeface="Arial"/>
              </a:rPr>
              <a:t>The fraud team operates the model through a review surface — not a model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41832"/>
            <a:ext cx="1118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Arial"/>
              </a:rPr>
              <a:t>The business-facing view shows what is identified, what remains exposed, and where investigation effort should focus.</a:t>
            </a:r>
          </a:p>
        </p:txBody>
      </p:sp>
      <p:pic>
        <p:nvPicPr>
          <p:cNvPr id="6" name="Picture 5" descr="632e3887-6b9e-460b-b9a5-67ef8adfaf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0744"/>
            <a:ext cx="11113008" cy="5020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40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Fraud Detection Case Study  ·  Deloitte Technical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9080" y="6528816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5F5F5F"/>
                </a:solidFill>
                <a:latin typeface="Arial"/>
              </a:rPr>
              <a:t>LIVE OPERATING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E1E1E"/>
                </a:solidFill>
                <a:latin typeface="Arial"/>
              </a:rPr>
              <a:t>Threshold &amp; capacity turns model performance into an operating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41832"/>
            <a:ext cx="1118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Arial"/>
              </a:rPr>
              <a:t>The live version of slide 9 lets decision-makers test fraud capture, alert quality, review capacity and illustrative economics together.</a:t>
            </a:r>
          </a:p>
        </p:txBody>
      </p:sp>
      <p:pic>
        <p:nvPicPr>
          <p:cNvPr id="6" name="Picture 5" descr="13b0477d-5613-4406-8829-fab7d63972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307592"/>
            <a:ext cx="11113008" cy="5020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40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Fraud Detection Case Study  ·  Deloitte Technical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9080" y="6528816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Five recommendations, each owned, sequenced, and tied to a specific result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901895"/>
              </p:ext>
            </p:extLst>
          </p:nvPr>
        </p:nvGraphicFramePr>
        <p:xfrm>
          <a:off x="548640" y="1691640"/>
          <a:ext cx="11064240" cy="3941064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as prioritisation, not auto-decision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sz="1100" kern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 of alerts are false positives and resemble genuine fraud closely (slide 10). Use model scores to </a:t>
                      </a:r>
                      <a:r>
                        <a:rPr sz="1100" kern="1200" dirty="0" err="1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prioritise</a:t>
                      </a:r>
                      <a:r>
                        <a:rPr sz="1100" kern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human review rather than auto-block transactions.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Re-set the threshold on economics, not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sz="1100" kern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missed fraud is worth ~40 reviews under the illustrative assumptions (slide 9). Test a lower cut-off, then confirm it against actual review capacity and cost.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Ops +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rules layer for low-value fraud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falls to ~43–45% under $50 — a stable gap this model will not close (slide 10).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Productionise the behavioural feature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Customer-history features deliver measurable incremental lift; they are also the most fragile component.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2–6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drift and close the feedback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sz="1100" kern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Prevalence already drifts within 7.5 days. Track score distribution, alert volume, </a:t>
                      </a:r>
                      <a:r>
                        <a:rPr sz="1100" kern="1200" dirty="0" err="1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realised</a:t>
                      </a:r>
                      <a:r>
                        <a:rPr sz="1100" kern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precision and recall after deployment.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Arial"/>
              </a:rPr>
              <a:t>A controlled pilot is feasible — three limitations must be closed before production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26262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21792" y="1764792"/>
            <a:ext cx="12710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29968" y="1984248"/>
            <a:ext cx="100584" cy="15544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130552" y="169164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26262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03704" y="1764792"/>
            <a:ext cx="12710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1984248"/>
            <a:ext cx="100584" cy="15544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712464" y="169164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26262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785616" y="1764792"/>
            <a:ext cx="12710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93792" y="1984248"/>
            <a:ext cx="100584" cy="15544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294376" y="169164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26262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367528" y="1764792"/>
            <a:ext cx="12710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75704" y="1984248"/>
            <a:ext cx="100584" cy="15544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76288" y="169164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26262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949440" y="1764792"/>
            <a:ext cx="12710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57616" y="1984248"/>
            <a:ext cx="100584" cy="15544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458200" y="169164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26262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531352" y="1764792"/>
            <a:ext cx="12710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939528" y="1984248"/>
            <a:ext cx="100584" cy="15544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0040112" y="169164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86BC25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113264" y="1764792"/>
            <a:ext cx="12710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523744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0707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Conceptual flow only — no APIs, databases or infrastructure were built for this case study.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2999232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WOULD CHANGE THE DECISION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26262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22960" y="3474720"/>
            <a:ext cx="484632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No business cost data the threshold is benchmarked, not economically optimised.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Only ~7.5 days observed no seasonality, and drift beyond this window is unmeasured.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Little evidence on customers and merchants unseen in training  cold-start performance is untested.</a:t>
            </a:r>
          </a:p>
        </p:txBody>
      </p:sp>
      <p:sp>
        <p:nvSpPr>
          <p:cNvPr id="28" name="Text 26"/>
          <p:cNvSpPr/>
          <p:nvPr/>
        </p:nvSpPr>
        <p:spPr>
          <a:xfrm>
            <a:off x="6263640" y="2999232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0707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WORTH NOTING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29184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26262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37960" y="3474720"/>
            <a:ext cx="484632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Some data characteristics suggest a simulated source — stated cautiously.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few categories show zero observed fraud and are therefore untested.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4B4B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No fairness analysis was performed across age or gender segments.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Immediate next step:  agree review cost and alert capacity with the client, then re-run the threshold sweep against those inputs.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822960" y="27432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Model selection evidence, feature-set contribution, and rejected alternatives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5F5F5F"/>
                </a:solidFill>
                <a:latin typeface="Arial"/>
              </a:rPr>
              <a:t>APPENDIX · OPERATIONAL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E1E1E"/>
                </a:solidFill>
                <a:latin typeface="Arial"/>
              </a:rPr>
              <a:t>Investigation and monitoring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41832"/>
            <a:ext cx="1118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Arial"/>
              </a:rPr>
              <a:t>Supporting operational detail for fraud investigators, data science and model-risk discussion.</a:t>
            </a:r>
          </a:p>
        </p:txBody>
      </p:sp>
      <p:pic>
        <p:nvPicPr>
          <p:cNvPr id="6" name="Picture 5" descr="6842222b-e26d-4378-b212-73ad6916ff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78" y="1367028"/>
            <a:ext cx="5437632" cy="4178808"/>
          </a:xfrm>
          <a:prstGeom prst="rect">
            <a:avLst/>
          </a:prstGeom>
        </p:spPr>
      </p:pic>
      <p:pic>
        <p:nvPicPr>
          <p:cNvPr id="8" name="Picture 7" descr="b262358e-ba0f-4074-bc71-af514d9393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872" y="1367028"/>
            <a:ext cx="5437632" cy="4178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660136"/>
            <a:ext cx="55107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32323"/>
                </a:solidFill>
                <a:latin typeface="Arial"/>
              </a:rPr>
              <a:t>Investigation &amp; Prioritization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8296" y="5660136"/>
            <a:ext cx="55107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32323"/>
                </a:solidFill>
                <a:latin typeface="Arial"/>
              </a:rPr>
              <a:t>Model Performance &amp;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40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Fraud Detection Case Study  ·  Deloitte Technical 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9080" y="6528816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APPENDIX · MODEL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Complexity was added only where the evidence justified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185623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22037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453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Tested — not adopted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892808"/>
            <a:ext cx="7543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No improvement in average precision or best achievable validation F1, even after independently optimising its own threshold.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41248" y="297180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33192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453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Considered — not applied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3008376"/>
            <a:ext cx="7543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unweighted model already showed strong minority-class ranking. No unresolved discrimination problem justified synthetic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41248" y="408736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" y="4434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BC2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12 configurations tested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4123944"/>
            <a:ext cx="7543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Best alternative gained +0.0011 PR-AUC at roughly double the trees — judged immaterial. The simpler baseline was retained.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1248" y="5202936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Merchant history (Set C)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453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Tested — rejected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5239512"/>
            <a:ext cx="7543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No meaningful gain over Set B for the leading model, so the added pipeline complexity was not kept.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discipline applied throughout: an additional layer of complexity was kept only where it produced a measurable, reproducible gain on validation data.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0404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APPENDIX · FEATURE CONTRIBUTION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Each additional layer of information added measurable value on unseen test data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—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Amount, category, age, gender — transaction-level attributes only.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 — behavioural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plus customer-relative history: spend deviation from the customer's own baseline, built from strictly prior transactions.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— largest lift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C — merchant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 plus merchant-level historical aggregates.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— no 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6F7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22960" y="45079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finding that mattered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4828032"/>
            <a:ext cx="105156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Customer-relative behaviour outperformed absolute transaction attributes. A $400 transaction is unremarkable in general and highly suspicious for a customer whose history sits below $30 — which is precisely the signal Set B captures and Set A cannot.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Fraud Detection Case Study  ·  Deloitte Technical Case Study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2514</Words>
  <Application>Microsoft Office PowerPoint</Application>
  <PresentationFormat>Widescreen</PresentationFormat>
  <Paragraphs>344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Case Study</dc:title>
  <dc:subject>PptxGenJS Presentation</dc:subject>
  <dc:creator>Leen</dc:creator>
  <cp:lastModifiedBy>Leen Al-Najjar</cp:lastModifiedBy>
  <cp:revision>3</cp:revision>
  <dcterms:created xsi:type="dcterms:W3CDTF">2026-08-13T21:04:50Z</dcterms:created>
  <dcterms:modified xsi:type="dcterms:W3CDTF">2026-08-14T12:36:59Z</dcterms:modified>
</cp:coreProperties>
</file>